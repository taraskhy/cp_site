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3" r:id="rId1"/>
  </p:sldMasterIdLst>
  <p:notesMasterIdLst>
    <p:notesMasterId r:id="rId42"/>
  </p:notesMasterIdLst>
  <p:sldIdLst>
    <p:sldId id="283" r:id="rId2"/>
    <p:sldId id="257" r:id="rId3"/>
    <p:sldId id="288" r:id="rId4"/>
    <p:sldId id="289" r:id="rId5"/>
    <p:sldId id="290" r:id="rId6"/>
    <p:sldId id="258" r:id="rId7"/>
    <p:sldId id="287" r:id="rId8"/>
    <p:sldId id="256" r:id="rId9"/>
    <p:sldId id="277" r:id="rId10"/>
    <p:sldId id="291" r:id="rId11"/>
    <p:sldId id="293" r:id="rId12"/>
    <p:sldId id="292" r:id="rId13"/>
    <p:sldId id="315" r:id="rId14"/>
    <p:sldId id="320" r:id="rId15"/>
    <p:sldId id="295" r:id="rId16"/>
    <p:sldId id="294" r:id="rId17"/>
    <p:sldId id="296" r:id="rId18"/>
    <p:sldId id="297" r:id="rId19"/>
    <p:sldId id="298" r:id="rId20"/>
    <p:sldId id="299" r:id="rId21"/>
    <p:sldId id="301" r:id="rId22"/>
    <p:sldId id="300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4" r:id="rId33"/>
    <p:sldId id="313" r:id="rId34"/>
    <p:sldId id="317" r:id="rId35"/>
    <p:sldId id="316" r:id="rId36"/>
    <p:sldId id="318" r:id="rId37"/>
    <p:sldId id="319" r:id="rId38"/>
    <p:sldId id="321" r:id="rId39"/>
    <p:sldId id="322" r:id="rId40"/>
    <p:sldId id="323" r:id="rId4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08:18:39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14423,'0'0'96,"242"37"-14503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33F13B8B-75A3-4D47-86A4-7184C495DD25}" type="datetimeFigureOut">
              <a:rPr lang="he-IL" smtClean="0"/>
              <a:t>כ"א/אב/תשפ"ה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030F88FF-6088-4A64-A256-D6AEB73CC6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3023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F88FF-6088-4A64-A256-D6AEB73CC6DF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270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5B52-675B-B87B-C0F7-01CF9EF61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E2C8F-E6AC-7828-F25A-FE1BADC0B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68D04-DC5E-8DBA-E825-9D527567A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16BB2-5842-3C3F-B12F-37B2827D3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F88FF-6088-4A64-A256-D6AEB73CC6DF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6899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3F192-DF03-8AE9-B261-19BD077A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C6645-DBFB-FFE9-2EDE-6E37BF228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448FE-098C-67AD-6249-D7893B209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E562D-4B5A-FC87-A710-8986E9264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F88FF-6088-4A64-A256-D6AEB73CC6DF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6105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E6DC5-5CCB-8164-B699-FBF6EE43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B0D8C-FCC5-972B-7B08-9B3B0E9E6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679EF-3766-812C-AB6E-2A849C4B2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EDDEB-3A8E-7DA4-BF6B-23D9F4A15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F88FF-6088-4A64-A256-D6AEB73CC6DF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0412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06F5-9F4B-26DF-9EBC-DE46575A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D2E87-8BD6-78C2-4EE8-8F957D50C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29889-0191-7558-700C-671FC9124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00884-3B25-6744-63FC-5BC20A643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F88FF-6088-4A64-A256-D6AEB73CC6DF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9654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0EA4-5007-1976-B28E-C27201A8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90AAA-9979-7C08-5706-DA944472F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BE898-1B59-20E9-5768-B8BA7DA35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825EC-B0D7-78A1-90F3-54FC18169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F88FF-6088-4A64-A256-D6AEB73CC6DF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9030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F88FF-6088-4A64-A256-D6AEB73CC6DF}" type="slidenum">
              <a:rPr lang="he-IL" smtClean="0"/>
              <a:t>31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1577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0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2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95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5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41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5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94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1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1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4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3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8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BD51D7-34AE-0730-A1CB-02E6B7C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נושא חדש מסתורי וחדש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6C382-9549-55C9-C5B7-A1A6D5BD1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איזה </a:t>
            </a:r>
            <a:r>
              <a:rPr lang="he-IL" u="sng" dirty="0"/>
              <a:t>קטע</a:t>
            </a:r>
            <a:r>
              <a:rPr lang="he-IL" dirty="0"/>
              <a:t>, הוא שוב פעם עשה את הבדיחה הגרועה הזו</a:t>
            </a:r>
          </a:p>
        </p:txBody>
      </p:sp>
    </p:spTree>
    <p:extLst>
      <p:ext uri="{BB962C8B-B14F-4D97-AF65-F5344CB8AC3E}">
        <p14:creationId xmlns:p14="http://schemas.microsoft.com/office/powerpoint/2010/main" val="16994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C8DFA79-4B2B-8E16-E90B-1B0C5F14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בעיית מבני נתונים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3CE8D77-DDAB-3453-5FF3-3D49169B4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dirty="0"/>
                  <a:t>בהינתן מערך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 בגודל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, נרצה מבנה נתונים התומך בפעולות הבאות:</a:t>
                </a:r>
                <a:r>
                  <a:rPr lang="en-GB" dirty="0"/>
                  <a:t> </a:t>
                </a:r>
                <a:r>
                  <a:rPr lang="he-IL" dirty="0"/>
                  <a:t>(מתנצלים מראש על הלעז, הרבה יותר קריא)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– initialize and build the DS.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time.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𝑆𝑢𝑚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 dirty="0"/>
                  <a:t> - Returns the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(may assume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dirty="0"/>
                  <a:t> time.</a:t>
                </a:r>
              </a:p>
              <a:p>
                <a:pPr marL="0" indent="0">
                  <a:buNone/>
                </a:pPr>
                <a:endParaRPr lang="he-IL" dirty="0"/>
              </a:p>
              <a:p>
                <a:pPr algn="r" rtl="1"/>
                <a:r>
                  <a:rPr lang="he-IL" dirty="0"/>
                  <a:t>דרישת המקום למבנה: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he-IL" dirty="0"/>
                  <a:t> . (כיאה לתכנות תחרותי, נרצה גם קבועים נמוכים ככל הניתן).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3CE8D77-DDAB-3453-5FF3-3D49169B4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  <a:blipFill>
                <a:blip r:embed="rId2"/>
                <a:stretch>
                  <a:fillRect l="-513" t="-163" r="-57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21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2C68E-1C4D-FBB9-2734-3267E444E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D792A5-73AF-4FED-067D-2DC917D8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פתרון בעיית מבני נתונים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603CCFA-9235-5693-98BC-563F46D126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dirty="0"/>
                  <a:t>המערך לא משתנה – כלומר ניתן לשמור את הסכום של כל רישא במערך בגודל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dirty="0"/>
                  <a:t> המקיים: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/>
              </a:p>
              <a:p>
                <a:pPr marL="0" indent="0" algn="r" rtl="1">
                  <a:buNone/>
                </a:pPr>
                <a:endParaRPr lang="he-IL" dirty="0"/>
              </a:p>
              <a:p>
                <a:pPr marL="0" indent="0" algn="r" rtl="1">
                  <a:buNone/>
                </a:pPr>
                <a:r>
                  <a:rPr lang="he-IL" dirty="0"/>
                  <a:t>ובזאת סיימנו את הבנייה.</a:t>
                </a:r>
              </a:p>
              <a:p>
                <a:pPr marL="0" indent="0" algn="r" rtl="1">
                  <a:buNone/>
                </a:pPr>
                <a:endParaRPr lang="he-IL" dirty="0"/>
              </a:p>
              <a:p>
                <a:pPr marL="0" indent="0" algn="r" rtl="1">
                  <a:buNone/>
                </a:pPr>
                <a:r>
                  <a:rPr lang="he-IL" dirty="0"/>
                  <a:t>בוודאי ש: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𝑆𝑢𝑚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603CCFA-9235-5693-98BC-563F46D126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  <a:blipFill>
                <a:blip r:embed="rId2"/>
                <a:stretch>
                  <a:fillRect t="-163" r="-62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98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8B0D9E1-7257-F92A-4E7E-C3D3306A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טוויסט בעלילה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676DDB8-B429-1F4B-131E-41C6372098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שימו לב שהפתרון הקודם עובד כל כך טוב רק בגלל שהמערך לא משתנה. אם ננסה לשנות את המערך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 במיקום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dirty="0"/>
                  <a:t> ניאלץ לעשות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dirty="0"/>
                  <a:t> שינויים למערך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dirty="0"/>
                  <a:t> וזו אינה דרך חכמה לעשות זאת.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dirty="0"/>
                  <a:t>אז שינוי לבעיה המקורית יגרור </a:t>
                </a:r>
                <a:r>
                  <a:rPr lang="he-IL" dirty="0" err="1"/>
                  <a:t>באולי</a:t>
                </a:r>
                <a:r>
                  <a:rPr lang="he-IL" dirty="0"/>
                  <a:t> </a:t>
                </a:r>
                <a:r>
                  <a:rPr lang="he-IL" dirty="0" err="1"/>
                  <a:t>סיבוכיויות</a:t>
                </a:r>
                <a:r>
                  <a:rPr lang="he-IL" dirty="0"/>
                  <a:t> שונות לשאר הפעולות.</a:t>
                </a:r>
              </a:p>
              <a:p>
                <a:pPr algn="r" rtl="1"/>
                <a:r>
                  <a:rPr lang="he-IL" dirty="0"/>
                  <a:t>כיאה למדעי המחשב, מה אם נאפשר פקטור נוסף של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he-IL" dirty="0"/>
                  <a:t> ?</a:t>
                </a:r>
                <a:endParaRPr lang="LID4096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676DDB8-B429-1F4B-131E-41C6372098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3" r="-57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69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1CAA-E472-C0F6-599B-CD3D7F29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ACC98E-EADC-881B-60D7-DE5F7B32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בעיית מבני נתונים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65ADB9B-82F5-1791-C696-EE3B1DC6C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dirty="0"/>
                  <a:t>בהינתן מערך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 בגודל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, נרצה מבנה נתונים התומך בפעולות הבאות:</a:t>
                </a:r>
                <a:r>
                  <a:rPr lang="en-GB" dirty="0"/>
                  <a:t> </a:t>
                </a:r>
                <a:r>
                  <a:rPr lang="he-IL" dirty="0"/>
                  <a:t>(מתנצלים מראש על הלעז, הרבה יותר קריא)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– initialize and build the DS.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time.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- Returns the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(may assume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  <a:r>
                  <a:rPr lang="he-I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 time.</a:t>
                </a:r>
                <a:endParaRPr lang="he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𝑎𝑛𝑔𝑒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dirty="0"/>
                  <a:t> - Changes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time.</a:t>
                </a:r>
              </a:p>
              <a:p>
                <a:pPr marL="0" indent="0">
                  <a:buNone/>
                </a:pPr>
                <a:endParaRPr lang="he-IL" dirty="0"/>
              </a:p>
              <a:p>
                <a:pPr algn="r" rtl="1"/>
                <a:r>
                  <a:rPr lang="he-IL" dirty="0"/>
                  <a:t>דרישת המקום למבנה: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he-IL" dirty="0"/>
                  <a:t> . (כיאה לתכנות תחרותי, נרצה גם קבועים נמוכים ככל הניתן).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65ADB9B-82F5-1791-C696-EE3B1DC6C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  <a:blipFill>
                <a:blip r:embed="rId2"/>
                <a:stretch>
                  <a:fillRect l="-513" t="-163" r="-5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61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D39CE0-7397-B7A1-6074-A7E9B20E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אבחנה ראשונה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מציין מיקום תוכן 5">
                <a:extLst>
                  <a:ext uri="{FF2B5EF4-FFF2-40B4-BE49-F238E27FC236}">
                    <a16:creationId xmlns:a16="http://schemas.microsoft.com/office/drawing/2014/main" id="{B238F015-CC7E-D16B-70DE-D6FDC70ACB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4" y="2303473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u="sng" dirty="0"/>
                  <a:t>טענה:</a:t>
                </a:r>
                <a:r>
                  <a:rPr lang="he-IL" dirty="0"/>
                  <a:t> לכל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he-IL" dirty="0"/>
                  <a:t> ניתן לפרק את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he-IL" dirty="0"/>
                  <a:t> ל -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</m:oMath>
                </a14:m>
                <a:r>
                  <a:rPr lang="he-IL" dirty="0"/>
                  <a:t> מקטעים שכל אחד הוא בגודל חזקת 2.</a:t>
                </a:r>
              </a:p>
              <a:p>
                <a:pPr algn="r" rtl="1"/>
                <a:r>
                  <a:rPr lang="he-IL" dirty="0"/>
                  <a:t>הסבר: נביט על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dirty="0"/>
                  <a:t>, בפרט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dirty="0"/>
                  <a:t> כלומר הייצוג הבינארי של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. ניתן לפרק את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לגדלים של חזקות 2 ע"פ אם הביט דולק או לא. (להוכחה פורמלית יותר – אינדוקציה חזקה).</a:t>
                </a:r>
              </a:p>
              <a:p>
                <a:pPr algn="r" rtl="1"/>
                <a:endParaRPr lang="he-IL" dirty="0"/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d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1110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 ⟹ 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מציין מיקום תוכן 5">
                <a:extLst>
                  <a:ext uri="{FF2B5EF4-FFF2-40B4-BE49-F238E27FC236}">
                    <a16:creationId xmlns:a16="http://schemas.microsoft.com/office/drawing/2014/main" id="{B238F015-CC7E-D16B-70DE-D6FDC70ACB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4" y="2303473"/>
                <a:ext cx="10691265" cy="3739896"/>
              </a:xfrm>
              <a:blipFill>
                <a:blip r:embed="rId2"/>
                <a:stretch>
                  <a:fillRect l="-513" t="-163" r="-5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4" descr="Puzzle chessboard by Marvin | Download free STL model | Printables.com">
            <a:extLst>
              <a:ext uri="{FF2B5EF4-FFF2-40B4-BE49-F238E27FC236}">
                <a16:creationId xmlns:a16="http://schemas.microsoft.com/office/drawing/2014/main" id="{B1A8F09E-C5AA-1119-8080-31BD4E45AA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0459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2591-C1BF-B5E3-9BE9-81649B394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A37800-03E2-F0E8-EC20-E44B5BDE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אבחנה שנייה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מציין מיקום תוכן 5">
                <a:extLst>
                  <a:ext uri="{FF2B5EF4-FFF2-40B4-BE49-F238E27FC236}">
                    <a16:creationId xmlns:a16="http://schemas.microsoft.com/office/drawing/2014/main" id="{4C0BB1B3-B439-EE0D-4897-E9E2046E8B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4" y="2303473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u="sng" dirty="0"/>
                  <a:t>טענה:</a:t>
                </a:r>
                <a:r>
                  <a:rPr lang="he-IL" dirty="0"/>
                  <a:t> יתרה מכך אותו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יכול להתפרק ל -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he-IL" dirty="0"/>
                  <a:t> חזקות 2 בסדר כך שכל בלוק בגודל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dirty="0"/>
                  <a:t> מתחיל באינדקס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he-IL" dirty="0"/>
                  <a:t> המקיים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he-IL" dirty="0"/>
                  <a:t> . </a:t>
                </a:r>
              </a:p>
              <a:p>
                <a:pPr algn="r" rtl="1"/>
                <a:r>
                  <a:rPr lang="he-IL" u="sng" dirty="0"/>
                  <a:t>הוכחה:</a:t>
                </a:r>
                <a:r>
                  <a:rPr lang="he-IL" dirty="0"/>
                  <a:t> נשים לב כי עבור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he-IL" dirty="0"/>
                  <a:t> אם ניקח את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he-IL" dirty="0"/>
                  <a:t> הגדול ביותר כך ש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he-I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e-I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/>
                  <a:t> , בוודאי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/>
                  <a:t> וגם קיים פירוק ל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he-IL" dirty="0"/>
                  <a:t> ע"פ אינדוקציה על הגודל.</a:t>
                </a:r>
              </a:p>
              <a:p>
                <a:pPr marL="0" indent="0" algn="r" rtl="1">
                  <a:buNone/>
                </a:pPr>
                <a:endParaRPr lang="he-IL" dirty="0"/>
              </a:p>
              <a:p>
                <a:pPr marL="0" indent="0" algn="r" rtl="1">
                  <a:buNone/>
                </a:pPr>
                <a:r>
                  <a:rPr lang="he-IL" dirty="0"/>
                  <a:t>זה באשר לפירוק עצמו, אבל הוכחה זו אינה מוכיחה 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שכמות הקטעים היא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he-IL" dirty="0"/>
                  <a:t> - תרגיל לכיתה 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(</a:t>
                </a:r>
                <a:r>
                  <a:rPr lang="he-IL" dirty="0" err="1"/>
                  <a:t>אונימודליות</a:t>
                </a:r>
                <a:r>
                  <a:rPr lang="he-IL" dirty="0"/>
                  <a:t>) (שם מפואר ל-"גבעה"). </a:t>
                </a:r>
              </a:p>
              <a:p>
                <a:pPr algn="r" rtl="1"/>
                <a:endParaRPr lang="en-GB" dirty="0"/>
              </a:p>
            </p:txBody>
          </p:sp>
        </mc:Choice>
        <mc:Fallback xmlns="">
          <p:sp>
            <p:nvSpPr>
              <p:cNvPr id="6" name="מציין מיקום תוכן 5">
                <a:extLst>
                  <a:ext uri="{FF2B5EF4-FFF2-40B4-BE49-F238E27FC236}">
                    <a16:creationId xmlns:a16="http://schemas.microsoft.com/office/drawing/2014/main" id="{4C0BB1B3-B439-EE0D-4897-E9E2046E8B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4" y="2303473"/>
                <a:ext cx="10691265" cy="3739896"/>
              </a:xfrm>
              <a:blipFill>
                <a:blip r:embed="rId2"/>
                <a:stretch>
                  <a:fillRect t="-163" r="-570" b="-571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4" descr="Puzzle chessboard by Marvin | Download free STL model | Printables.com">
            <a:extLst>
              <a:ext uri="{FF2B5EF4-FFF2-40B4-BE49-F238E27FC236}">
                <a16:creationId xmlns:a16="http://schemas.microsoft.com/office/drawing/2014/main" id="{C74076BC-3B69-7C53-ED8D-1A623FA154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BC3AF-567F-4936-713D-67A953D8D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173421"/>
            <a:ext cx="6096000" cy="235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76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2FE7258-1A35-C54A-94A3-DDD6F0095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9" y="1177348"/>
            <a:ext cx="3330906" cy="3441068"/>
          </a:xfrm>
        </p:spPr>
        <p:txBody>
          <a:bodyPr>
            <a:normAutofit/>
          </a:bodyPr>
          <a:lstStyle/>
          <a:p>
            <a:r>
              <a:rPr lang="he-IL" sz="4200" dirty="0"/>
              <a:t>עץ סגמנטים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282F4F1-3335-E117-0B8C-3079006E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9280" y="4754942"/>
            <a:ext cx="3259785" cy="925710"/>
          </a:xfrm>
        </p:spPr>
        <p:txBody>
          <a:bodyPr>
            <a:normAutofit/>
          </a:bodyPr>
          <a:lstStyle/>
          <a:p>
            <a:r>
              <a:rPr lang="en-US" dirty="0"/>
              <a:t>Segment Tree </a:t>
            </a:r>
            <a:endParaRPr lang="he-IL" dirty="0"/>
          </a:p>
        </p:txBody>
      </p:sp>
      <p:cxnSp>
        <p:nvCxnSpPr>
          <p:cNvPr id="2080" name="Straight Connector 207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2" name="Straight Connector 2081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egment tree memes - Codeforces">
            <a:extLst>
              <a:ext uri="{FF2B5EF4-FFF2-40B4-BE49-F238E27FC236}">
                <a16:creationId xmlns:a16="http://schemas.microsoft.com/office/drawing/2014/main" id="{669FC360-DAA3-2DC6-54C7-26EA0C9CA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151" y="1115443"/>
            <a:ext cx="2387444" cy="238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egment tree memes - Codeforces">
            <a:extLst>
              <a:ext uri="{FF2B5EF4-FFF2-40B4-BE49-F238E27FC236}">
                <a16:creationId xmlns:a16="http://schemas.microsoft.com/office/drawing/2014/main" id="{42BC3113-9F66-90B5-57A7-9067B5283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813" y="938212"/>
            <a:ext cx="3294527" cy="498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egment tree memes - Codeforces">
            <a:extLst>
              <a:ext uri="{FF2B5EF4-FFF2-40B4-BE49-F238E27FC236}">
                <a16:creationId xmlns:a16="http://schemas.microsoft.com/office/drawing/2014/main" id="{FB69755E-1E89-B1EA-EEB8-233F117EF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25" y="3717198"/>
            <a:ext cx="2566088" cy="192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87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3D61B-D586-ECEA-2FBB-E66D7B053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DFD6D0-71DE-9C94-3F43-D73D7E169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הרעיון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671072A-D1F7-1C5F-8F10-59E992B17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2317242"/>
            <a:ext cx="10691265" cy="3739896"/>
          </a:xfrm>
        </p:spPr>
        <p:txBody>
          <a:bodyPr/>
          <a:lstStyle/>
          <a:p>
            <a:pPr algn="r" rtl="1"/>
            <a:r>
              <a:rPr lang="he-IL" dirty="0"/>
              <a:t>נשתמש במבנה נתונים שהוא מייצג בדיוק את העץ מאבחנה 2.</a:t>
            </a:r>
          </a:p>
          <a:p>
            <a:pPr marL="0" indent="0" algn="r" rtl="1">
              <a:buNone/>
            </a:pPr>
            <a:r>
              <a:rPr lang="he-IL" dirty="0"/>
              <a:t> כלומר משהו כזה: </a:t>
            </a:r>
          </a:p>
        </p:txBody>
      </p:sp>
      <p:pic>
        <p:nvPicPr>
          <p:cNvPr id="2050" name="Picture 2" descr="trees Memes · ProgrammerHumor.io">
            <a:extLst>
              <a:ext uri="{FF2B5EF4-FFF2-40B4-BE49-F238E27FC236}">
                <a16:creationId xmlns:a16="http://schemas.microsoft.com/office/drawing/2014/main" id="{6CDF300A-6E39-77A2-324F-81D84F071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510821"/>
            <a:ext cx="3771900" cy="452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038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6875E-1490-4235-F2B8-5F774BF7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59333C-E337-D773-1ED1-F40AB97B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הרעיון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מציין מיקום תוכן 5">
                <a:extLst>
                  <a:ext uri="{FF2B5EF4-FFF2-40B4-BE49-F238E27FC236}">
                    <a16:creationId xmlns:a16="http://schemas.microsoft.com/office/drawing/2014/main" id="{248999ED-AAF4-F09F-739E-55BD3C11C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4" y="2317242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dirty="0"/>
                  <a:t>נשתמש במבנה נתונים שהוא מייצג בדיוק את העץ מאבחנה 2. </a:t>
                </a:r>
              </a:p>
              <a:p>
                <a:pPr algn="r" rtl="1"/>
                <a:r>
                  <a:rPr lang="he-IL" dirty="0"/>
                  <a:t>סליחה, התכוונתי משהו כזה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dirty="0"/>
                  <a:t>באופן זה, כל שינוי שאנחנו נעשה ישפיע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רק על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he-IL" dirty="0"/>
                  <a:t> ערכים (שנמצאים במסלול </a:t>
                </a:r>
                <a:r>
                  <a:rPr lang="he-IL" dirty="0" err="1"/>
                  <a:t>לסינגלטון</a:t>
                </a:r>
                <a:endParaRPr lang="he-IL" dirty="0"/>
              </a:p>
              <a:p>
                <a:pPr marL="0" indent="0" algn="r" rtl="1">
                  <a:buNone/>
                </a:pPr>
                <a:r>
                  <a:rPr lang="he-IL" dirty="0"/>
                  <a:t>של האינדקס), וכל </a:t>
                </a:r>
                <a:r>
                  <a:rPr lang="he-IL" dirty="0" err="1"/>
                  <a:t>שאילתא</a:t>
                </a:r>
                <a:r>
                  <a:rPr lang="he-IL" dirty="0"/>
                  <a:t> תהיה מורכבת רק מ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</m:oMath>
                </a14:m>
                <a:r>
                  <a:rPr lang="he-IL" dirty="0"/>
                  <a:t> איברים שאת כולם אנחנו חישבנו כבר.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מבחינת זמן בנייה ומקום – לאחסן את העץ ייקח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צמתים, ולבנות אותו ייקח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he-IL" dirty="0"/>
                  <a:t> שכן עוברים על כל צומת פעמיים – לחישוב הערך שלו, ולחישוב הערך של אבא שלו</a:t>
                </a:r>
              </a:p>
              <a:p>
                <a:pPr marL="0" indent="0" algn="r" rtl="1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6" name="מציין מיקום תוכן 5">
                <a:extLst>
                  <a:ext uri="{FF2B5EF4-FFF2-40B4-BE49-F238E27FC236}">
                    <a16:creationId xmlns:a16="http://schemas.microsoft.com/office/drawing/2014/main" id="{248999ED-AAF4-F09F-739E-55BD3C11C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4" y="2317242"/>
                <a:ext cx="10691265" cy="3739896"/>
              </a:xfrm>
              <a:blipFill>
                <a:blip r:embed="rId2"/>
                <a:stretch>
                  <a:fillRect l="-342" r="-570" b="-309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0C3B197-3C2B-B065-8DE1-3443C9FB4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686635"/>
            <a:ext cx="5724525" cy="221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8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1C07-7955-E7FA-379A-5829FFAE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למעשה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3B550A-77E4-AAD5-509A-13CC365019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במהלך כל האבחנות שעשינו לא הזכרנו את השימוש בסכום אפילו לא פעם אחת – האם התבלבלנו?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dirty="0"/>
                  <a:t>עצי סגמנטים הם כלי מאוד חזק – שעובד על כל פעולה אסוציאטיבית (כלומר כזו שאפשר להעלים לה את הסוגריים בלי לשנות את התוצאה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)</a:t>
                </a:r>
                <a:r>
                  <a:rPr lang="he-IL" dirty="0"/>
                  <a:t>). </a:t>
                </a:r>
              </a:p>
              <a:p>
                <a:pPr algn="r" rtl="1"/>
                <a:r>
                  <a:rPr lang="he-IL" dirty="0"/>
                  <a:t>הם כלי כל כך חזק שאפילו זה לא תנאי הכרחי, מספיק לדעת איך לחבר בזמן טוב את הפתרון לשני מקטעים סמוכים.</a:t>
                </a:r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3B550A-77E4-AAD5-509A-13CC365019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9" t="-163" r="-5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Anyone have the nerd dog in HQ ? : r/MemeRestoration">
            <a:extLst>
              <a:ext uri="{FF2B5EF4-FFF2-40B4-BE49-F238E27FC236}">
                <a16:creationId xmlns:a16="http://schemas.microsoft.com/office/drawing/2014/main" id="{9F7C9466-4A02-74AB-D227-09111F41A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905" y="896112"/>
            <a:ext cx="1141362" cy="113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19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A76BF-E25A-267F-3C97-81D5320D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>
            <a:normAutofit/>
          </a:bodyPr>
          <a:lstStyle/>
          <a:p>
            <a:r>
              <a:rPr lang="en-GB" sz="4000" dirty="0"/>
              <a:t>Code No.1</a:t>
            </a: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r>
              <a:rPr lang="en-GB" sz="1400" dirty="0"/>
              <a:t>More general code might be added</a:t>
            </a:r>
            <a:br>
              <a:rPr lang="en-GB" sz="1400" dirty="0"/>
            </a:br>
            <a:r>
              <a:rPr lang="en-GB" sz="1400" dirty="0"/>
              <a:t>to the website shortly.</a:t>
            </a:r>
            <a:endParaRPr lang="he-IL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500C33-FD34-4B9A-BA45-C77369E51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3908" y="364235"/>
            <a:ext cx="7638042" cy="61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76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73CC957F-C2D9-FBAF-B1B5-52004F17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הפסקה של 10 דקות</a:t>
            </a:r>
            <a:endParaRPr lang="LID4096" dirty="0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E97F100-06D9-25D4-30A2-C6B4239B8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4986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D81300F0-C099-5588-514B-3EEBD7C9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לפני ההפסקה דיברנו על</a:t>
            </a:r>
            <a:endParaRPr lang="LID4096" dirty="0"/>
          </a:p>
        </p:txBody>
      </p:sp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41EF3856-2425-631E-EFB0-F3B79EAA7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עץ סגמנטים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ספציפית עדכונים נקודתיים (במקום יחיד) .</a:t>
            </a:r>
          </a:p>
          <a:p>
            <a:pPr algn="r" rtl="1"/>
            <a:r>
              <a:rPr lang="he-IL" dirty="0"/>
              <a:t>ושאילתות טווח (</a:t>
            </a:r>
            <a:r>
              <a:rPr lang="he-IL" dirty="0" err="1"/>
              <a:t>טווחיים</a:t>
            </a:r>
            <a:r>
              <a:rPr lang="he-IL" dirty="0"/>
              <a:t>).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74495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74A52-4D4F-88D6-8063-875A3B95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8ABFDAA-F500-8BCD-F499-24B6B202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בעיית מבני נתונים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1727F53-7F03-9576-4A6D-11C7C45A4D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dirty="0"/>
                  <a:t>בהינתן מערך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 בגודל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, נרצה מבנה נתונים התומך בפעולות הבאות:</a:t>
                </a:r>
                <a:r>
                  <a:rPr lang="en-GB" dirty="0"/>
                  <a:t> </a:t>
                </a:r>
                <a:r>
                  <a:rPr lang="he-IL" dirty="0"/>
                  <a:t>(מתנצלים מראש על הלעז, הרבה יותר קריא)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– initialize and build the DS.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time.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- Returns the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(may assume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  <a:r>
                  <a:rPr lang="he-I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GB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time.</a:t>
                </a:r>
                <a:endParaRPr lang="he-IL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𝑎𝑛𝑔𝑒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dirty="0"/>
                  <a:t> - Changes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time.</a:t>
                </a:r>
              </a:p>
              <a:p>
                <a:pPr marL="0" indent="0">
                  <a:buNone/>
                </a:pPr>
                <a:endParaRPr lang="he-IL" dirty="0"/>
              </a:p>
              <a:p>
                <a:pPr algn="r" rtl="1"/>
                <a:r>
                  <a:rPr lang="he-I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דרישת המקום למבנה: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he-I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. (כיאה לתכנות תחרותי, נרצה גם קבועים נמוכים ככל הניתן).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1727F53-7F03-9576-4A6D-11C7C45A4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  <a:blipFill>
                <a:blip r:embed="rId2"/>
                <a:stretch>
                  <a:fillRect l="-513" t="-163" r="-5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90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29EA-3DCA-08FD-55D2-A3BB429E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פתרון בעיית מבני נתונים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6416E-61C5-A6FB-C672-CD788C9FBF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4" y="2336292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dirty="0"/>
                  <a:t>עכשיו נוכל שוב לפרק את התחום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he-IL" dirty="0"/>
                  <a:t> למקטעים שחישבנו את התוצאה, ונשים לב שבהינתן טווח שכולו נמצא בתוך טווח העדכון – אני יודע בוודאות שהסכום שלו גדל ב-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he-IL" dirty="0"/>
                  <a:t> , ולכן זהו השינוי שנצטרך לבצע לקוד.</a:t>
                </a:r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dirty="0"/>
                  <a:t>המבנה הזה מאוד נוח והוא גם מאוד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קל ואינטואיטיבי לכתיבה!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6416E-61C5-A6FB-C672-CD788C9FBF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4" y="2336292"/>
                <a:ext cx="10691265" cy="3739896"/>
              </a:xfrm>
              <a:blipFill>
                <a:blip r:embed="rId2"/>
                <a:stretch>
                  <a:fillRect l="-798" r="-5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34E08F2-5EEE-1201-B0B0-4103865B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4" r="16231"/>
          <a:stretch>
            <a:fillRect/>
          </a:stretch>
        </p:blipFill>
        <p:spPr>
          <a:xfrm>
            <a:off x="700634" y="3743325"/>
            <a:ext cx="6510122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06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52D8-3685-B55E-432C-4BD99617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2" y="878186"/>
            <a:ext cx="10691265" cy="1307592"/>
          </a:xfrm>
        </p:spPr>
        <p:txBody>
          <a:bodyPr/>
          <a:lstStyle/>
          <a:p>
            <a:pPr algn="r" rtl="1"/>
            <a:r>
              <a:rPr lang="he-IL" dirty="0"/>
              <a:t>מי הצליח להבין ששיקרנו?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8ED36-35B3-8EAD-F3B1-38E0EAECA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3" y="2316238"/>
            <a:ext cx="10691265" cy="3739896"/>
          </a:xfrm>
        </p:spPr>
        <p:txBody>
          <a:bodyPr/>
          <a:lstStyle/>
          <a:p>
            <a:pPr algn="r" rtl="1"/>
            <a:r>
              <a:rPr lang="he-IL" dirty="0"/>
              <a:t>בהצבעה בבקשה</a:t>
            </a:r>
          </a:p>
        </p:txBody>
      </p:sp>
    </p:spTree>
    <p:extLst>
      <p:ext uri="{BB962C8B-B14F-4D97-AF65-F5344CB8AC3E}">
        <p14:creationId xmlns:p14="http://schemas.microsoft.com/office/powerpoint/2010/main" val="4285870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FD1F-B693-0EC5-FDE8-E994C2D3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לא על </a:t>
            </a:r>
            <a:r>
              <a:rPr lang="he-IL" dirty="0" err="1"/>
              <a:t>הכל</a:t>
            </a:r>
            <a:r>
              <a:rPr lang="he-IL" dirty="0"/>
              <a:t> אבל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F3113-1111-823B-2693-0B4939AC2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2221992"/>
            <a:ext cx="10691265" cy="3739896"/>
          </a:xfrm>
        </p:spPr>
        <p:txBody>
          <a:bodyPr/>
          <a:lstStyle/>
          <a:p>
            <a:pPr algn="r" rtl="1"/>
            <a:r>
              <a:rPr lang="he-IL" dirty="0"/>
              <a:t>אז תחשבו מה קורה אם עדכנו מקטע גדול, ואז היינו צריכים את הילדים שלו.</a:t>
            </a:r>
          </a:p>
          <a:p>
            <a:pPr algn="r" rtl="1"/>
            <a:r>
              <a:rPr lang="he-IL" dirty="0"/>
              <a:t>כאן מגיעה הטעות – אבל גם השינוי במחשבה.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מה אם נפרק את החישוב של כל ערך לכדי חישוב של סכום המסלול שלו?</a:t>
            </a:r>
          </a:p>
          <a:p>
            <a:pPr algn="r" rtl="1"/>
            <a:r>
              <a:rPr lang="he-IL" dirty="0"/>
              <a:t>כך נוכל לתמוך בשאילתות על מספר אחד, אבל לאפשר נכונות בעדכונים של טווחים: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A5944-77D6-090D-3B12-E36182A8E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391"/>
          <a:stretch>
            <a:fillRect/>
          </a:stretch>
        </p:blipFill>
        <p:spPr>
          <a:xfrm>
            <a:off x="-164877" y="914400"/>
            <a:ext cx="4021654" cy="2794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8A61BF-5A82-278C-5F3B-571F2A53F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494" y="4654325"/>
            <a:ext cx="6319977" cy="22036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ABF1C5-4AA0-5491-284B-1EF7D8DE1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483" y="4654324"/>
            <a:ext cx="4423920" cy="220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22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26D1-9417-16D3-9E40-7C4664D6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אבל רגע...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09D59-AA3A-F296-C376-B47CE48F3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ביקשתם מאיתנו לעשות עדכונים על טווחים ושאילתות על טווחים, לא שאילתות על אינדקסים!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נשאר כתרגיל לקורא</a:t>
            </a:r>
          </a:p>
        </p:txBody>
      </p:sp>
      <p:pic>
        <p:nvPicPr>
          <p:cNvPr id="4" name="Picture 2" descr="Anyone have the nerd dog in HQ ? : r/MemeRestoration">
            <a:extLst>
              <a:ext uri="{FF2B5EF4-FFF2-40B4-BE49-F238E27FC236}">
                <a16:creationId xmlns:a16="http://schemas.microsoft.com/office/drawing/2014/main" id="{2A9E822B-79E1-6D24-736D-A8F9BD825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985" y="896112"/>
            <a:ext cx="1141362" cy="113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nyone have the nerd dog in HQ ? : r/MemeRestoration">
            <a:extLst>
              <a:ext uri="{FF2B5EF4-FFF2-40B4-BE49-F238E27FC236}">
                <a16:creationId xmlns:a16="http://schemas.microsoft.com/office/drawing/2014/main" id="{1D9951DF-CEA2-4F3E-01AE-888DF4D5F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380" y="896112"/>
            <a:ext cx="1141362" cy="113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903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FC35-95BA-5E56-578F-76A42CD0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סתם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61539-CA2A-2692-75ED-D35B8346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הבעיה הזו באמת מורכבת משגרמנו לה להראות – וכל הכאב ראש הזה גורם לי לרצות פשוט להפסיק.</a:t>
            </a:r>
          </a:p>
          <a:p>
            <a:pPr algn="r" rtl="1"/>
            <a:r>
              <a:rPr lang="he-IL" dirty="0"/>
              <a:t>אני עצלן.</a:t>
            </a:r>
          </a:p>
          <a:p>
            <a:pPr algn="r" rtl="1"/>
            <a:r>
              <a:rPr lang="he-IL" dirty="0"/>
              <a:t>וזה הפתרון.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83519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A06D7-D1BE-A230-7254-D4E4ACEA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D35F17F2-A566-7178-6B78-E614A4513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68D9E5D-CB0E-C9A6-7294-803006691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9" y="1177348"/>
            <a:ext cx="3330906" cy="3441068"/>
          </a:xfrm>
        </p:spPr>
        <p:txBody>
          <a:bodyPr>
            <a:normAutofit/>
          </a:bodyPr>
          <a:lstStyle/>
          <a:p>
            <a:r>
              <a:rPr lang="en-GB" sz="4200" dirty="0"/>
              <a:t>Lazy propagation</a:t>
            </a:r>
            <a:endParaRPr lang="he-IL" sz="42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99240C4-0D4D-4694-9DFC-F06FB81D2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9280" y="4754942"/>
            <a:ext cx="3259785" cy="925710"/>
          </a:xfrm>
        </p:spPr>
        <p:txBody>
          <a:bodyPr>
            <a:normAutofit/>
          </a:bodyPr>
          <a:lstStyle/>
          <a:p>
            <a:r>
              <a:rPr lang="en-US" dirty="0"/>
              <a:t>Segment Tree Kashe</a:t>
            </a:r>
            <a:endParaRPr lang="he-IL" dirty="0"/>
          </a:p>
        </p:txBody>
      </p:sp>
      <p:cxnSp>
        <p:nvCxnSpPr>
          <p:cNvPr id="2080" name="Straight Connector 2079">
            <a:extLst>
              <a:ext uri="{FF2B5EF4-FFF2-40B4-BE49-F238E27FC236}">
                <a16:creationId xmlns:a16="http://schemas.microsoft.com/office/drawing/2014/main" id="{1FC7D352-EDAF-1F91-0912-F1CCD303F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2" name="Straight Connector 2081">
            <a:extLst>
              <a:ext uri="{FF2B5EF4-FFF2-40B4-BE49-F238E27FC236}">
                <a16:creationId xmlns:a16="http://schemas.microsoft.com/office/drawing/2014/main" id="{5D1385F0-FC36-ABE7-5806-C9BD988DA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Dog Accepting Fate Meme">
            <a:extLst>
              <a:ext uri="{FF2B5EF4-FFF2-40B4-BE49-F238E27FC236}">
                <a16:creationId xmlns:a16="http://schemas.microsoft.com/office/drawing/2014/main" id="{8025A5A2-B09F-84B0-9C2A-FD2A5349B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280" y="1076718"/>
            <a:ext cx="5019495" cy="470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12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9905-1DA1-7E65-7F6C-5A22538B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עצלנות לשמה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9695-34B0-92BC-57CE-0D9C7BC3F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4CCC54-99B7-FB04-7FC5-0EC2A8581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3" y="1384565"/>
            <a:ext cx="7177088" cy="499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51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E230-F69A-DDC7-2A83-9AA7F2BA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AB43-02B2-5CB5-8C2F-38F63706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עצלנות לשמה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1D6B-ECF9-560D-D7FD-6AC8CE290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7A03AD-7ABD-5D82-72FD-D979AD7C3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3" y="1384565"/>
            <a:ext cx="7177088" cy="4992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471FD-012D-E314-0F50-C0354239F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3" y="896112"/>
            <a:ext cx="6850858" cy="5421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796A83-1F1F-1240-2365-FA9FFF136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418" y="762594"/>
            <a:ext cx="1362075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8C78EA-39A5-2E1A-B67E-977001ED2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3989" y="832502"/>
            <a:ext cx="681038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17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02D4-CEF4-E206-7ED4-E3401658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A17B-6791-C849-0151-394B41F6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עצלנות לשמה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EF69A-F21D-FE93-AA23-C7CF324D5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18956E-095F-D089-C932-3A1BD7EB4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49" y="943737"/>
            <a:ext cx="6475025" cy="5592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4F052E-B5BC-E97C-4B73-E03C891DA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687" y="943737"/>
            <a:ext cx="1362075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E7DE81-7637-8708-F9D4-4391868A8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037" y="815721"/>
            <a:ext cx="13620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79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1629-0BBF-CF31-8CB2-9A3E32DA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F595-6540-3C4D-EBEC-D0D05450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עצלנות לשמה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2ACC9-1133-A29F-FE5A-992664620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291581-31F4-D838-4D6F-514C86C9F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75" y="1009649"/>
            <a:ext cx="6340894" cy="5476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6F5AB1-F7C1-720D-D4F6-11B26AD7D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687" y="943737"/>
            <a:ext cx="1362075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556DD6-0A5A-D2BA-5FD5-628C65AA4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037" y="815721"/>
            <a:ext cx="1362075" cy="53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B6A3B6-65DF-D2D4-F106-90381FA84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42" y="1009649"/>
            <a:ext cx="6289025" cy="5263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5DB1C3-2454-9F44-AA2F-383B657E8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904" y="954024"/>
            <a:ext cx="1190625" cy="552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D8D7FA-1FB8-F70D-60B7-E034051FC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761" y="806196"/>
            <a:ext cx="11906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58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C970-2F5C-0E3E-480F-2D52D98B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8096-A842-0C44-485C-29506CDF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עצלנות לשמה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4263-E1EB-FC18-A2D4-44CE18935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C5946F-6332-E618-522B-042330890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75" y="1009649"/>
            <a:ext cx="6340894" cy="5476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78865E-4CFA-0103-3E28-97C58204D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687" y="943737"/>
            <a:ext cx="1362075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04356D-7616-B220-FF1D-5D223C688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037" y="815721"/>
            <a:ext cx="1362075" cy="53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08C79C-53EF-137C-ACD9-0569DD180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59" y="1009649"/>
            <a:ext cx="6175209" cy="51678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EA34E0-D07E-19DD-4BC6-512AC6B6B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904" y="954024"/>
            <a:ext cx="1190625" cy="552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040E9A-66A7-0E3B-4D33-B6947F460E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761" y="806196"/>
            <a:ext cx="1190625" cy="552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6ADF26-B922-8F73-569D-0BE8C7E3E0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59" y="989781"/>
            <a:ext cx="6700500" cy="52829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E74150-D5EB-4F22-C718-D89D1B0D78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0703" y="943737"/>
            <a:ext cx="135255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677B42-15F1-03F7-A556-01D824803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2350" y="751444"/>
            <a:ext cx="1128129" cy="47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93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B57BB-59C4-BDDE-AB2E-CA2D22AB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423A-098D-DB71-3031-7AC15387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עצלנות לשמה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12BAA-0719-9E83-0B0D-36E80795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9BA540-7FCA-3458-459A-7DD449D63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75" y="1009649"/>
            <a:ext cx="6340894" cy="5476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B5958D-69FD-7F5A-C52C-9B059DFF8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687" y="943737"/>
            <a:ext cx="1362075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773A34-5D14-D3C7-83EB-6BAB556F5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037" y="815721"/>
            <a:ext cx="1362075" cy="53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3A9E36-3F63-4906-3263-0A5F7105B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59" y="1009649"/>
            <a:ext cx="6175209" cy="51678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344F8B-3C6C-4D61-476B-A65D9DBEEB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904" y="954024"/>
            <a:ext cx="1190625" cy="552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2FC2F6-5D88-75DF-5E03-6BCA78C937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761" y="806196"/>
            <a:ext cx="1190625" cy="552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80DA18-B8F2-4891-4C7F-66B57A2AD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59" y="1009649"/>
            <a:ext cx="6833390" cy="53877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002B09-6605-65B9-FE9B-FDAB59188D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0703" y="943737"/>
            <a:ext cx="135255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E0FE31-C37A-A916-8F24-BB0D3A97C4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2350" y="751444"/>
            <a:ext cx="1128129" cy="476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6CF220-A8F3-CCA3-17E4-174310B26C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887" y="1009649"/>
            <a:ext cx="6560270" cy="5295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FAEBC0-BA52-3885-29FB-F25158C38F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0703" y="896112"/>
            <a:ext cx="1352550" cy="571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47C626-7525-5FCF-EF40-04DB3C0C90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477" y="850313"/>
            <a:ext cx="1149287" cy="48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33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787039-B294-2DFF-178A-55006CF8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Push down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7DBB639-EC9A-4899-5551-E42714EF8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על כל פעולה שנעשה, נרצה לדחוף את העדכון לבנים תוך עדכון הצומת הנוכחי. </a:t>
                </a:r>
              </a:p>
              <a:p>
                <a:pPr algn="r" rtl="1"/>
                <a:r>
                  <a:rPr lang="he-IL" dirty="0"/>
                  <a:t>צריך לזכור לאפס את העדכון של האב, ולשמור ערך בשם </a:t>
                </a:r>
                <a:r>
                  <a:rPr lang="en-GB" dirty="0"/>
                  <a:t>lazy</a:t>
                </a:r>
                <a:r>
                  <a:rPr lang="he-IL" dirty="0"/>
                  <a:t> שיהיה "ערך השינוי של הטווח בצומת הזה".</a:t>
                </a:r>
              </a:p>
              <a:p>
                <a:pPr algn="r" rtl="1"/>
                <a:r>
                  <a:rPr lang="he-IL" dirty="0"/>
                  <a:t>כך הפעולה של דחיפה למטה תתבצע ב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he-IL" dirty="0"/>
                  <a:t> ע"י לעדכן את </a:t>
                </a:r>
                <a:r>
                  <a:rPr lang="en-GB" dirty="0"/>
                  <a:t>lazy</a:t>
                </a:r>
                <a:r>
                  <a:rPr lang="he-IL" dirty="0"/>
                  <a:t> של צד ימין ושל צד שמאל, ואתחול של הנוכחי.</a:t>
                </a:r>
              </a:p>
              <a:p>
                <a:pPr algn="r" rtl="1"/>
                <a:r>
                  <a:rPr lang="he-IL" dirty="0"/>
                  <a:t>פעולה זו תיקח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he-IL" dirty="0"/>
                  <a:t> וסה"כ עוברים בעץ ב -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he-IL" dirty="0"/>
                  <a:t> צמתים</a:t>
                </a:r>
                <a:endParaRPr lang="en-GB" dirty="0"/>
              </a:p>
              <a:p>
                <a:pPr marL="0" indent="0" algn="r" rtl="1">
                  <a:buNone/>
                </a:pPr>
                <a:r>
                  <a:rPr lang="he-IL" dirty="0"/>
                  <a:t> ולכן הסיבוכיות לפעולות נשארת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he-IL" dirty="0"/>
                  <a:t> . 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dirty="0"/>
                  <a:t>הקוד לכך:</a:t>
                </a:r>
              </a:p>
              <a:p>
                <a:pPr algn="r" rtl="1"/>
                <a:endParaRPr lang="he-IL" dirty="0"/>
              </a:p>
              <a:p>
                <a:pPr algn="r" rtl="1"/>
                <a:endParaRPr lang="LID4096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7DBB639-EC9A-4899-5551-E42714EF8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8" t="-163" r="-570" b="-31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3F0B67-DBF4-9F58-1BD0-2553B7AE5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73" y="4537203"/>
            <a:ext cx="5101204" cy="215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39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B894F4-A0C7-8155-FE02-C533FEC5E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</a:t>
            </a:r>
            <a:r>
              <a:rPr lang="en-GB" dirty="0" err="1"/>
              <a:t>ull</a:t>
            </a:r>
            <a:r>
              <a:rPr lang="en-GB" dirty="0"/>
              <a:t> Up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751BD7-899F-7B6F-DB26-0E7E4F2B0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  <a:p>
            <a:pPr algn="r" rtl="1"/>
            <a:r>
              <a:rPr lang="he-IL" dirty="0"/>
              <a:t>בדרך חזרה ברקורסיה, חשוב לוודא שאנחנו משתמשים ב</a:t>
            </a:r>
            <a:r>
              <a:rPr lang="en-GB" dirty="0"/>
              <a:t>value</a:t>
            </a:r>
            <a:r>
              <a:rPr lang="he-IL" dirty="0"/>
              <a:t> שהוא נכון ומעודכן – ולכן נמשוך למטה מהבנים שלו את ה</a:t>
            </a:r>
            <a:r>
              <a:rPr lang="en-GB" dirty="0"/>
              <a:t>value</a:t>
            </a:r>
            <a:r>
              <a:rPr lang="he-IL" dirty="0"/>
              <a:t> שלהם ונחשב את של הצומת הנוכחי.</a:t>
            </a:r>
            <a:endParaRPr lang="en-GB" dirty="0"/>
          </a:p>
          <a:p>
            <a:pPr algn="r" rtl="1"/>
            <a:r>
              <a:rPr lang="he-IL" dirty="0"/>
              <a:t>בכניסה לרקורסיה נדחוף למטה, וביציאה ממנה נחשב את הערך של האב מהבנים שלו – במילים אחרות נדחוף למטה לפני שנרד למטה, נמשוך למעלה לפני שנעלה למעלה.</a:t>
            </a:r>
          </a:p>
          <a:p>
            <a:pPr algn="r" rtl="1"/>
            <a:endParaRPr lang="LID4096" dirty="0"/>
          </a:p>
        </p:txBody>
      </p:sp>
      <p:pic>
        <p:nvPicPr>
          <p:cNvPr id="1026" name="Picture 2" descr="Ok I pull up : r/memes">
            <a:extLst>
              <a:ext uri="{FF2B5EF4-FFF2-40B4-BE49-F238E27FC236}">
                <a16:creationId xmlns:a16="http://schemas.microsoft.com/office/drawing/2014/main" id="{8E481D7D-9B0D-EA67-6B52-494526F35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13" y="915053"/>
            <a:ext cx="2379867" cy="233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0D8B36B-1D5E-153C-1CB7-ED0954CAB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82" y="5550047"/>
            <a:ext cx="5004486" cy="1048685"/>
          </a:xfrm>
          <a:prstGeom prst="rect">
            <a:avLst/>
          </a:prstGeom>
        </p:spPr>
      </p:pic>
      <p:pic>
        <p:nvPicPr>
          <p:cNvPr id="1028" name="Picture 4" descr="Ok I Pull Up | Know Your Meme">
            <a:extLst>
              <a:ext uri="{FF2B5EF4-FFF2-40B4-BE49-F238E27FC236}">
                <a16:creationId xmlns:a16="http://schemas.microsoft.com/office/drawing/2014/main" id="{516B7764-9C68-7DA2-105B-272A72A192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9" r="19401"/>
          <a:stretch>
            <a:fillRect/>
          </a:stretch>
        </p:blipFill>
        <p:spPr bwMode="auto">
          <a:xfrm>
            <a:off x="6290269" y="914399"/>
            <a:ext cx="2498718" cy="234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359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DBA629-7B1A-91AA-8E38-4ACDAE28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השינויים הנוספים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A01A1FC-41D2-E9E0-4131-3885978C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אז הוספנו שדה של </a:t>
            </a:r>
            <a:r>
              <a:rPr lang="en-GB" dirty="0"/>
              <a:t>lazy</a:t>
            </a:r>
            <a:r>
              <a:rPr lang="he-IL" dirty="0"/>
              <a:t>. בנוסף שינינו את </a:t>
            </a:r>
            <a:r>
              <a:rPr lang="en-GB" dirty="0"/>
              <a:t>update, sum</a:t>
            </a:r>
            <a:r>
              <a:rPr lang="he-IL" dirty="0"/>
              <a:t> באופן הבא:</a:t>
            </a:r>
            <a:endParaRPr lang="LID4096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6D8FE0FD-0A0F-BA4F-9C29-E0C750E01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876" y="2743109"/>
            <a:ext cx="4931460" cy="3311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6BC2B9-AD7D-4BD8-4CBD-277388004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92" y="2743109"/>
            <a:ext cx="48577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59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E4D0CB-3B22-A7A0-24D8-F82EC0F8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כאמור – זה מבנה נתונים מאוד חזק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6DA4394-51D2-C368-1A37-32B38C60D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אפשר לתמוך הרבה פעולות, והזמן הוא </a:t>
            </a:r>
            <a:r>
              <a:rPr lang="en-GB" dirty="0"/>
              <a:t>worst-case</a:t>
            </a:r>
            <a:r>
              <a:rPr lang="he-IL" dirty="0"/>
              <a:t> , לא לשיעורין.</a:t>
            </a:r>
          </a:p>
          <a:p>
            <a:pPr algn="r" rtl="1"/>
            <a:r>
              <a:rPr lang="he-IL" dirty="0"/>
              <a:t>אפשר לתמוך בהרבה פעולות, והרבה פעמים גם במקביל (כלומר גם עדכונים על טווחים כתוספת וגם כ</a:t>
            </a:r>
            <a:r>
              <a:rPr lang="en-GB" dirty="0"/>
              <a:t>assignment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כדוגמה</a:t>
            </a:r>
            <a:r>
              <a:rPr lang="en-GB" dirty="0"/>
              <a:t> </a:t>
            </a:r>
            <a:r>
              <a:rPr lang="he-IL" dirty="0"/>
              <a:t>(תוכלו בוודאות להשתמש </a:t>
            </a:r>
            <a:r>
              <a:rPr lang="he-IL" dirty="0" err="1"/>
              <a:t>בשאילתא</a:t>
            </a:r>
            <a:r>
              <a:rPr lang="he-IL" dirty="0"/>
              <a:t> אחד ועדכון אחד ולתחזק אותם נכון (אולי גם יותר</a:t>
            </a:r>
            <a:r>
              <a:rPr lang="en-US" dirty="0"/>
              <a:t> </a:t>
            </a:r>
            <a:r>
              <a:rPr lang="he-IL" dirty="0"/>
              <a:t>)):</a:t>
            </a:r>
          </a:p>
          <a:p>
            <a:pPr algn="l"/>
            <a:r>
              <a:rPr lang="en-GB" dirty="0"/>
              <a:t>Sum</a:t>
            </a:r>
          </a:p>
          <a:p>
            <a:pPr algn="l"/>
            <a:r>
              <a:rPr lang="en-GB" dirty="0"/>
              <a:t>Max</a:t>
            </a:r>
          </a:p>
          <a:p>
            <a:pPr algn="l"/>
            <a:r>
              <a:rPr lang="en-GB" dirty="0"/>
              <a:t>Min</a:t>
            </a:r>
          </a:p>
          <a:p>
            <a:pPr algn="l"/>
            <a:r>
              <a:rPr lang="en-GB" dirty="0"/>
              <a:t>GCD</a:t>
            </a:r>
            <a:endParaRPr lang="LID4096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BBD823C-0C36-0116-419C-7B1EED4E96D2}"/>
              </a:ext>
            </a:extLst>
          </p:cNvPr>
          <p:cNvSpPr txBox="1"/>
          <p:nvPr/>
        </p:nvSpPr>
        <p:spPr>
          <a:xfrm>
            <a:off x="3067666" y="4091940"/>
            <a:ext cx="21925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GB" dirty="0"/>
              <a:t>[l, r] = k</a:t>
            </a:r>
            <a:endParaRPr lang="he-IL" dirty="0"/>
          </a:p>
          <a:p>
            <a:pPr algn="l" rtl="0"/>
            <a:endParaRPr lang="en-GB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GB" dirty="0"/>
              <a:t>[l, r] += k</a:t>
            </a:r>
            <a:endParaRPr lang="he-IL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GB" dirty="0"/>
              <a:t>XOR</a:t>
            </a:r>
            <a:endParaRPr lang="he-IL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GB" dirty="0"/>
              <a:t>AND</a:t>
            </a:r>
            <a:endParaRPr lang="he-IL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LID4096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1DFCD8C-A3D6-3547-64CD-7AF5E0AF49E9}"/>
              </a:ext>
            </a:extLst>
          </p:cNvPr>
          <p:cNvSpPr txBox="1"/>
          <p:nvPr/>
        </p:nvSpPr>
        <p:spPr>
          <a:xfrm>
            <a:off x="6096000" y="4306529"/>
            <a:ext cx="1936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OR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MSB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 err="1"/>
              <a:t>etc</a:t>
            </a:r>
            <a:r>
              <a:rPr lang="en-US" dirty="0"/>
              <a:t>/.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9006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1B1D-A165-01BB-F1AC-77B9676B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B3DAA0-37A3-85C9-B5C4-3E6AF2F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בעיית מבני נתונים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B3548592-B3B9-A974-0A9C-A6E92A3A2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dirty="0"/>
                  <a:t>בהינתן מערך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 בגודל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, נרצה מבנה נתונים התומך בפעולות הבאות:</a:t>
                </a:r>
                <a:r>
                  <a:rPr lang="en-GB" dirty="0"/>
                  <a:t> </a:t>
                </a:r>
                <a:r>
                  <a:rPr lang="he-IL" dirty="0"/>
                  <a:t>(מתנצלים מראש על הלעז, הרבה יותר קריא)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– initialize and build the DS.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time.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- Returns the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(may assume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  <a:r>
                  <a:rPr lang="he-I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 time.</a:t>
                </a:r>
                <a:endParaRPr lang="he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𝑎𝑛𝑔𝑒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dirty="0"/>
                  <a:t> - Changes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time.</a:t>
                </a:r>
              </a:p>
              <a:p>
                <a:pPr marL="0" indent="0">
                  <a:buNone/>
                </a:pPr>
                <a:endParaRPr lang="he-IL" dirty="0"/>
              </a:p>
              <a:p>
                <a:pPr algn="r" rtl="1"/>
                <a:r>
                  <a:rPr lang="he-IL" dirty="0"/>
                  <a:t>דרישת המקום למבנה: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he-IL" dirty="0"/>
                  <a:t> . (כיאה לתכנות תחרותי, נרצה גם קבועים נמוכים ככל הניתן).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65ADB9B-82F5-1791-C696-EE3B1DC6C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794" y="2221992"/>
                <a:ext cx="10691265" cy="3739896"/>
              </a:xfrm>
              <a:blipFill>
                <a:blip r:embed="rId2"/>
                <a:stretch>
                  <a:fillRect l="-513" t="-163" r="-5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43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6F06B-F1E9-F3BC-F766-CF353A9F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1D6C-00D4-776C-D4D8-3C359C02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פתרון בעיית מבני נתונים 2 אבל אחרת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F9A0FE-BEB4-722B-0E0D-74CE98DEA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4" y="2336292"/>
                <a:ext cx="10691265" cy="3739896"/>
              </a:xfrm>
            </p:spPr>
            <p:txBody>
              <a:bodyPr/>
              <a:lstStyle/>
              <a:p>
                <a:pPr algn="r" rtl="1"/>
                <a:r>
                  <a:rPr lang="he-IL" dirty="0"/>
                  <a:t>אולי נאחסן את הסכומים בצורה שונה, כלומר: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 algn="r" rtl="1">
                  <a:buNone/>
                </a:pPr>
                <a:endParaRPr lang="en-GB" dirty="0"/>
              </a:p>
              <a:p>
                <a:pPr marL="0" indent="0" algn="r" rtl="1">
                  <a:buNone/>
                </a:pPr>
                <a:r>
                  <a:rPr lang="he-IL" dirty="0"/>
                  <a:t>דבר כזה יכול להראות משהו כמו: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 algn="r" rtl="1">
                  <a:buNone/>
                </a:pPr>
                <a:r>
                  <a:rPr lang="he-IL" dirty="0"/>
                  <a:t>ברור שמספיקים לנו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משתנים בלתי תלויים כדי להרכיב את הסכומים הנכונים באיזושהי דרך, השאלה היא איך בצורה נוחה ויעילה?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F9A0FE-BEB4-722B-0E0D-74CE98DEA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4" y="2336292"/>
                <a:ext cx="10691265" cy="3739896"/>
              </a:xfrm>
              <a:blipFill>
                <a:blip r:embed="rId2"/>
                <a:stretch>
                  <a:fillRect r="-570" b="-228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185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27206-9FA5-5A05-BFEB-88EB8AD3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C27D23-9627-1E28-CA6C-32D45856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9" y="1177348"/>
            <a:ext cx="3330906" cy="3441068"/>
          </a:xfrm>
        </p:spPr>
        <p:txBody>
          <a:bodyPr>
            <a:normAutofit/>
          </a:bodyPr>
          <a:lstStyle/>
          <a:p>
            <a:r>
              <a:rPr lang="en-GB" sz="4200" dirty="0"/>
              <a:t>Fenwick</a:t>
            </a:r>
            <a:br>
              <a:rPr lang="en-GB" sz="4200" dirty="0"/>
            </a:br>
            <a:r>
              <a:rPr lang="en-GB" sz="4200" dirty="0"/>
              <a:t>Tree</a:t>
            </a:r>
            <a:endParaRPr lang="he-IL" sz="42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FB46A12-BC28-6AD7-CA1C-32282C761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9280" y="4754942"/>
            <a:ext cx="3259785" cy="925710"/>
          </a:xfrm>
        </p:spPr>
        <p:txBody>
          <a:bodyPr>
            <a:normAutofit/>
          </a:bodyPr>
          <a:lstStyle/>
          <a:p>
            <a:r>
              <a:rPr lang="en-US" dirty="0"/>
              <a:t>BIT = Binary Indexed tree</a:t>
            </a:r>
            <a:endParaRPr lang="he-IL" dirty="0"/>
          </a:p>
        </p:txBody>
      </p:sp>
      <p:pic>
        <p:nvPicPr>
          <p:cNvPr id="3074" name="Picture 2" descr="Binary Indexed Tree - Fenwick Tree&quot; Sticker for Sale by Mechashadow |  Redbubble">
            <a:extLst>
              <a:ext uri="{FF2B5EF4-FFF2-40B4-BE49-F238E27FC236}">
                <a16:creationId xmlns:a16="http://schemas.microsoft.com/office/drawing/2014/main" id="{CF75633F-8B94-0351-C382-E399EC9CB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299" y="1034980"/>
            <a:ext cx="3495570" cy="466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𝐓𝐇𝐄 𝐃𝐈𝐉𝐊𝐒𝐓𝐑𝐀 𝐘𝐎𝐔 𝐍𝐄𝐕𝐄𝐑 𝐊𝐍𝐄𝐖: | rohan goswami">
            <a:extLst>
              <a:ext uri="{FF2B5EF4-FFF2-40B4-BE49-F238E27FC236}">
                <a16:creationId xmlns:a16="http://schemas.microsoft.com/office/drawing/2014/main" id="{00BB0870-A8A4-6668-F453-483CED2EE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596" y="3725027"/>
            <a:ext cx="3218194" cy="197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EIN FEIN FEIN FEIN FEIN 🌵🧛🏿‍♂️ #TravisScott #PlayboiCarti">
            <a:extLst>
              <a:ext uri="{FF2B5EF4-FFF2-40B4-BE49-F238E27FC236}">
                <a16:creationId xmlns:a16="http://schemas.microsoft.com/office/drawing/2014/main" id="{03B7D412-22C7-FDB0-51A0-EE64C1506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299" y="1034980"/>
            <a:ext cx="1471491" cy="262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287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557BEE28-0654-61D0-4F9C-7A7A2A414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 rtl="1"/>
                <a:r>
                  <a:rPr lang="en-US" dirty="0"/>
                  <a:t> </a:t>
                </a:r>
                <a:r>
                  <a:rPr lang="he-IL" dirty="0"/>
                  <a:t>הגדרת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he-IL" dirty="0"/>
                  <a:t> </a:t>
                </a:r>
                <a:endParaRPr lang="LID4096" dirty="0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557BEE28-0654-61D0-4F9C-7A7A2A414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0233" r="-9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E384E20-859A-D74E-E514-1E1D691A88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ניתן לבחור כל מיני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he-IL" dirty="0"/>
                  <a:t> ועבור חלק מהן המבנה יעבוד בסדר. במגבלות הקורס נעסוק ב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he-IL" dirty="0"/>
                  <a:t> ספציפית: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1011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b="0" dirty="0"/>
              </a:p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1010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1010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b="0" dirty="0"/>
              </a:p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111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pPr algn="l"/>
                <a:endParaRPr lang="en-GB" dirty="0"/>
              </a:p>
              <a:p>
                <a:pPr algn="r" rtl="1"/>
                <a:r>
                  <a:rPr lang="he-IL" dirty="0"/>
                  <a:t>מי רוצה לעלות על הרצף?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𝐿𝑆𝐵</m:t>
                            </m:r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𝑙𝑒𝑎𝑑𝑖𝑛𝑔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                     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𝑒𝑙𝑠𝑒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E384E20-859A-D74E-E514-1E1D691A8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13" t="-163" r="-570" b="-212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197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D29311-EBE4-2936-E092-BFC13DA8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מתברר ש...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9AABB92-2B62-AEB3-BDA1-30F2AD285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ניתן לאחסן את הסכומים האלה ע"י משחקי ביטים חכמים: (לא באמת רלוונטי להיכנס לפרטים).</a:t>
            </a:r>
          </a:p>
          <a:p>
            <a:pPr algn="r" rtl="1"/>
            <a:endParaRPr lang="he-IL" dirty="0"/>
          </a:p>
          <a:p>
            <a:pPr algn="r" rtl="1"/>
            <a:endParaRPr lang="LID4096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6D20213-4CB9-57C2-5BF3-73952488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86" y="2813200"/>
            <a:ext cx="5382376" cy="2981741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2F2BF4BE-B2E8-0D42-396E-B76DD1D6F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640" y="2813200"/>
            <a:ext cx="3074692" cy="304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23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46942C-767E-761F-206C-541853DD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אבל </a:t>
            </a:r>
            <a:r>
              <a:rPr lang="he-IL" dirty="0" err="1"/>
              <a:t>אבל</a:t>
            </a:r>
            <a:r>
              <a:rPr lang="he-IL" dirty="0"/>
              <a:t> 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A386691-074D-4556-BFFC-B4C5A48113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למה שנשתמש בזה אם אנחנו כבר יודעים </a:t>
                </a:r>
                <a:r>
                  <a:rPr lang="en-GB" dirty="0"/>
                  <a:t>seg tree</a:t>
                </a:r>
                <a:r>
                  <a:rPr lang="he-IL" dirty="0"/>
                  <a:t>?</a:t>
                </a:r>
                <a:endParaRPr lang="en-GB" dirty="0"/>
              </a:p>
              <a:p>
                <a:pPr algn="r" rtl="1"/>
                <a:r>
                  <a:rPr lang="he-IL" dirty="0"/>
                  <a:t>קוד הרבה יותר קריא, ומכוון בדיוק למה שצריך. בנוסף העובדה </a:t>
                </a:r>
                <a:r>
                  <a:rPr lang="he-IL" dirty="0" err="1"/>
                  <a:t>שסוכמים</a:t>
                </a:r>
                <a:r>
                  <a:rPr lang="he-IL" dirty="0"/>
                  <a:t> רישא מאפשרת לעשות רעיונות מאוד יפים (ויותר קל להסביר עם מבנה חדש).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dirty="0"/>
                  <a:t>אז </a:t>
                </a:r>
                <a:r>
                  <a:rPr lang="en-GB" dirty="0"/>
                  <a:t>recap</a:t>
                </a:r>
                <a:r>
                  <a:rPr lang="he-IL" dirty="0"/>
                  <a:t> קצר על ה</a:t>
                </a:r>
                <a:r>
                  <a:rPr lang="en-US" dirty="0"/>
                  <a:t>API</a:t>
                </a:r>
                <a:r>
                  <a:rPr lang="he-IL" dirty="0"/>
                  <a:t> (פונקציות של </a:t>
                </a:r>
                <a:r>
                  <a:rPr lang="he-IL" dirty="0" err="1"/>
                  <a:t>פנוויק</a:t>
                </a:r>
                <a:r>
                  <a:rPr lang="he-IL" dirty="0"/>
                  <a:t>):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𝐴𝑑𝑑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b="0" dirty="0"/>
              </a:p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𝑆𝑢𝑚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𝑟𝑒𝑡𝑢𝑟𝑛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𝑝𝑟𝑒𝑓𝑖𝑥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LID4096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A386691-074D-4556-BFFC-B4C5A4811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3" t="-163" r="-57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Anyone have the nerd dog in HQ ? : r/MemeRestoration">
            <a:extLst>
              <a:ext uri="{FF2B5EF4-FFF2-40B4-BE49-F238E27FC236}">
                <a16:creationId xmlns:a16="http://schemas.microsoft.com/office/drawing/2014/main" id="{D991429A-6369-FD04-C63A-4E6A89DC8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007" y="915053"/>
            <a:ext cx="1141362" cy="113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nyone have the nerd dog in HQ ? : r/MemeRestoration">
            <a:extLst>
              <a:ext uri="{FF2B5EF4-FFF2-40B4-BE49-F238E27FC236}">
                <a16:creationId xmlns:a16="http://schemas.microsoft.com/office/drawing/2014/main" id="{2BF048A6-FD2B-C88C-3D4D-24AE92B71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755" y="914400"/>
            <a:ext cx="1141362" cy="113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nyone have the nerd dog in HQ ? : r/MemeRestoration">
            <a:extLst>
              <a:ext uri="{FF2B5EF4-FFF2-40B4-BE49-F238E27FC236}">
                <a16:creationId xmlns:a16="http://schemas.microsoft.com/office/drawing/2014/main" id="{68530CC1-291D-00E4-C5FB-FF3BB9B5E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259" y="914400"/>
            <a:ext cx="1141362" cy="113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2095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F5B706-2BFF-19B2-840E-227F024B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שאלות נקודה ועדכוני טווח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9D5A97F-E6A4-A898-D2CA-4D78D7255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אנחנו יודעים לבצע שאלות טווח ועדכוני נקודה. מה אם נשתמש בסכום בשביל הערך, ובערך בשביל הסכום?</a:t>
                </a:r>
              </a:p>
              <a:p>
                <a:pPr algn="r" rtl="1"/>
                <a:r>
                  <a:rPr lang="he-IL" dirty="0"/>
                  <a:t>נאתחל את כל המערך ל0.</a:t>
                </a:r>
              </a:p>
              <a:p>
                <a:pPr algn="r" rtl="1"/>
                <a:r>
                  <a:rPr lang="he-IL" dirty="0"/>
                  <a:t>כשנרצה לחשב ערך במיקום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dirty="0"/>
                  <a:t> נחשב אותו ע"י הסכום של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dirty="0"/>
                  <a:t> .</a:t>
                </a:r>
              </a:p>
              <a:p>
                <a:pPr algn="r" rtl="1"/>
                <a:r>
                  <a:rPr lang="he-IL" dirty="0"/>
                  <a:t>כשנרצה לעדכן טווח ולהוסיף לו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, נעשה זאת ע"י להוסיף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לאינדקס של </a:t>
                </a:r>
              </a:p>
              <a:p>
                <a:pPr marL="0" indent="0" algn="r" rtl="1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he-IL" dirty="0"/>
                  <a:t> ולהוריד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מהאינדקס של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dirty="0"/>
                  <a:t> .</a:t>
                </a:r>
              </a:p>
              <a:p>
                <a:pPr algn="r" rtl="1"/>
                <a:r>
                  <a:rPr lang="he-IL" dirty="0"/>
                  <a:t>ניתן לתחזק אפילו שני עצי </a:t>
                </a:r>
                <a:r>
                  <a:rPr lang="he-IL" dirty="0" err="1"/>
                  <a:t>פנוויק</a:t>
                </a:r>
                <a:r>
                  <a:rPr lang="he-IL" dirty="0"/>
                  <a:t>, אחד מאותחל ל-0 ויטפל בעדכונים,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 אחר מאותחל למערך ויטפל בבקשות הסכום. ניתן לתחזק את זה אבל לא במסגרת הקורס.</a:t>
                </a:r>
              </a:p>
              <a:p>
                <a:pPr marL="0" indent="0" algn="r" rtl="1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9D5A97F-E6A4-A898-D2CA-4D78D7255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3" r="-570" b="-31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דיו 3">
                <a:extLst>
                  <a:ext uri="{FF2B5EF4-FFF2-40B4-BE49-F238E27FC236}">
                    <a16:creationId xmlns:a16="http://schemas.microsoft.com/office/drawing/2014/main" id="{3D761884-656E-9C78-51FF-E718DAED2123}"/>
                  </a:ext>
                </a:extLst>
              </p14:cNvPr>
              <p14:cNvContentPartPr/>
              <p14:nvPr/>
            </p14:nvContentPartPr>
            <p14:xfrm>
              <a:off x="-644423" y="2600261"/>
              <a:ext cx="87840" cy="13680"/>
            </p14:xfrm>
          </p:contentPart>
        </mc:Choice>
        <mc:Fallback xmlns="">
          <p:pic>
            <p:nvPicPr>
              <p:cNvPr id="4" name="דיו 3">
                <a:extLst>
                  <a:ext uri="{FF2B5EF4-FFF2-40B4-BE49-F238E27FC236}">
                    <a16:creationId xmlns:a16="http://schemas.microsoft.com/office/drawing/2014/main" id="{3D761884-656E-9C78-51FF-E718DAED21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50543" y="2594141"/>
                <a:ext cx="100080" cy="259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תמונה 5">
            <a:extLst>
              <a:ext uri="{FF2B5EF4-FFF2-40B4-BE49-F238E27FC236}">
                <a16:creationId xmlns:a16="http://schemas.microsoft.com/office/drawing/2014/main" id="{E1EBC4B2-DE09-A88B-3E54-65A6E9BB5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58" y="3529584"/>
            <a:ext cx="3816910" cy="189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561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77C90C-829C-FE52-68A6-DDD3D00C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רעיונות נוספים למתעניינים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F368910-2E5A-B04B-B123-CC0182233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dirty="0"/>
              <a:t>Sqrt decomposition – </a:t>
            </a:r>
            <a:r>
              <a:rPr lang="en-GB" dirty="0" err="1"/>
              <a:t>mo’s</a:t>
            </a:r>
            <a:r>
              <a:rPr lang="en-GB" dirty="0"/>
              <a:t> algorithm.</a:t>
            </a:r>
          </a:p>
          <a:p>
            <a:pPr algn="l"/>
            <a:r>
              <a:rPr lang="en-GB" dirty="0"/>
              <a:t>Offline queries.</a:t>
            </a:r>
          </a:p>
          <a:p>
            <a:pPr algn="l"/>
            <a:r>
              <a:rPr lang="en-GB" dirty="0"/>
              <a:t>Array segment tree.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There are more but we do not recommend to dive into them at this stage.</a:t>
            </a:r>
          </a:p>
        </p:txBody>
      </p:sp>
    </p:spTree>
    <p:extLst>
      <p:ext uri="{BB962C8B-B14F-4D97-AF65-F5344CB8AC3E}">
        <p14:creationId xmlns:p14="http://schemas.microsoft.com/office/powerpoint/2010/main" val="34808949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16BDDF-F588-CAEF-E1DD-0708A7F8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בואו נפתור שאלה בסיפי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010F7D-381C-89DE-8EA4-941E78DC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5382094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1719</Words>
  <Application>Microsoft Office PowerPoint</Application>
  <PresentationFormat>Widescreen</PresentationFormat>
  <Paragraphs>196</Paragraphs>
  <Slides>40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Arial</vt:lpstr>
      <vt:lpstr>Cambria Math</vt:lpstr>
      <vt:lpstr>ChronicleVTI</vt:lpstr>
      <vt:lpstr>נושא חדש מסתורי וחדש</vt:lpstr>
      <vt:lpstr>בעיית מבני נתונים</vt:lpstr>
      <vt:lpstr>פתרון בעיית מבני נתונים</vt:lpstr>
      <vt:lpstr>טוויסט בעלילה</vt:lpstr>
      <vt:lpstr>בעיית מבני נתונים 2</vt:lpstr>
      <vt:lpstr>אבחנה ראשונה</vt:lpstr>
      <vt:lpstr>אבחנה שנייה</vt:lpstr>
      <vt:lpstr>עץ סגמנטים</vt:lpstr>
      <vt:lpstr>הרעיון</vt:lpstr>
      <vt:lpstr>הרעיון</vt:lpstr>
      <vt:lpstr>למעשה </vt:lpstr>
      <vt:lpstr>Code No.1    More general code might be added to the website shortly.</vt:lpstr>
      <vt:lpstr>הפסקה של 10 דקות</vt:lpstr>
      <vt:lpstr>לפני ההפסקה דיברנו על</vt:lpstr>
      <vt:lpstr>בעיית מבני נתונים 3</vt:lpstr>
      <vt:lpstr>פתרון בעיית מבני נתונים 3</vt:lpstr>
      <vt:lpstr>מי הצליח להבין ששיקרנו?</vt:lpstr>
      <vt:lpstr>לא על הכל אבל</vt:lpstr>
      <vt:lpstr>אבל רגע...</vt:lpstr>
      <vt:lpstr>סתם</vt:lpstr>
      <vt:lpstr>Lazy propagation</vt:lpstr>
      <vt:lpstr>עצלנות לשמה</vt:lpstr>
      <vt:lpstr>עצלנות לשמה</vt:lpstr>
      <vt:lpstr>עצלנות לשמה</vt:lpstr>
      <vt:lpstr>עצלנות לשמה</vt:lpstr>
      <vt:lpstr>עצלנות לשמה</vt:lpstr>
      <vt:lpstr>עצלנות לשמה</vt:lpstr>
      <vt:lpstr>Push down</vt:lpstr>
      <vt:lpstr>Pull Up</vt:lpstr>
      <vt:lpstr>השינויים הנוספים</vt:lpstr>
      <vt:lpstr>כאמור – זה מבנה נתונים מאוד חזק</vt:lpstr>
      <vt:lpstr>בעיית מבני נתונים 2</vt:lpstr>
      <vt:lpstr>פתרון בעיית מבני נתונים 2 אבל אחרת</vt:lpstr>
      <vt:lpstr>Fenwick Tree</vt:lpstr>
      <vt:lpstr> הגדרת g(i) </vt:lpstr>
      <vt:lpstr>מתברר ש...</vt:lpstr>
      <vt:lpstr>אבל אבל </vt:lpstr>
      <vt:lpstr>שאלות נקודה ועדכוני טווח</vt:lpstr>
      <vt:lpstr>רעיונות נוספים למתעניינים</vt:lpstr>
      <vt:lpstr>בואו נפתור שאלה בסיפי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ירין סרגה</dc:creator>
  <cp:lastModifiedBy>tomer hambra</cp:lastModifiedBy>
  <cp:revision>68</cp:revision>
  <dcterms:created xsi:type="dcterms:W3CDTF">2025-05-16T11:56:45Z</dcterms:created>
  <dcterms:modified xsi:type="dcterms:W3CDTF">2025-08-15T17:57:09Z</dcterms:modified>
</cp:coreProperties>
</file>